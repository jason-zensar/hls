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CTPIP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0" i="0">
                <a:solidFill>
                  <a:srgbClr val="E6E6E6"/>
                </a:solidFill>
                <a:latin typeface="Calibri"/>
              </a:rPr>
              <a:t>From a PDF to a verified answer, step by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80560"/>
            <a:ext cx="105156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600" b="0" i="0">
                <a:solidFill>
                  <a:srgbClr val="BFBFBF"/>
                </a:solidFill>
                <a:latin typeface="Calibri"/>
              </a:rPr>
              <a:t>Two pipelines: Ingestion (PDF → knowledge graph) and Query (question → evidence-backed answer)  •  with a real worked example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big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A careful research assistant that never guesses and always shows its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5448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PDF protocols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upload or import folder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68880" y="2057400"/>
            <a:ext cx="32004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155448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Ingestion pipeline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7 stages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800600" y="2057400"/>
            <a:ext cx="32004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20640" y="155448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Stores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SQLite + Neo4j + files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32320" y="2057400"/>
            <a:ext cx="320039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452359" y="155448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Query pipeline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10 steps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464039" y="2057400"/>
            <a:ext cx="320041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84080" y="155448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Answer + sources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page and quote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017520"/>
            <a:ext cx="6766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Reads each page and notes the headings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Cuts the text into small labelled passages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Underlines every drug, disease, dose and rule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Writes an index card for each fact: what, where (page), proof (quote)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Files the cards on a wall; related cards are joined by string (the graph)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Later: finds the right cards, double-checks them against the source and answers using only those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3200400"/>
            <a:ext cx="3931920" cy="23774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>
                <a:solidFill>
                  <a:srgbClr val="000000"/>
                </a:solidFill>
                <a:latin typeface="Calibri"/>
              </a:rPr>
              <a:t>Three promises:
1. No fact without a source (page + quote)
2. No guessing – unclear things are flagged
3. Restartable – progress is saved after every stage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Ingestion pipeline – seven stages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Heavy reading in parallel worker processes, database writing in one safe thread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11430000" cy="192024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5875">
            <a:solidFill>
              <a:srgbClr val="40404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07592"/>
            <a:ext cx="11247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404040"/>
                </a:solidFill>
                <a:latin typeface="Calibri"/>
              </a:rPr>
              <a:t>WORKER PROCESSES (parallel, up to 4)  –  stages 1–5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78308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 Register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PDF check, SHA-256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14600" y="228600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880360" y="178308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 Extract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text, tables, OCR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800600" y="228600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66360" y="178308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 Structure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sections, categories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86600" y="228600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52360" y="178308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 Chunk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evidence passages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72600" y="228600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738360" y="1783080"/>
            <a:ext cx="1920240" cy="100584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 Extract facts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entities, claims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08960" y="3749039"/>
            <a:ext cx="8686800" cy="192024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5875">
            <a:solidFill>
              <a:srgbClr val="59595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3776472"/>
            <a:ext cx="8503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  <a:latin typeface="Calibri"/>
              </a:rPr>
              <a:t>WRITER THREAD (one at a time)  –  stages 6–7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83280" y="4251960"/>
            <a:ext cx="2743200" cy="100584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 Store in SQLite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sections, chunks, search index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4251960"/>
            <a:ext cx="2926080" cy="100584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 Resolve + write graph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Neo4j nodes + relationships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251960"/>
            <a:ext cx="1463040" cy="1005840"/>
          </a:xfrm>
          <a:prstGeom prst="roundRect">
            <a:avLst>
              <a:gd name="adj" fmla="val 12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Done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searchable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26480" y="4754880"/>
            <a:ext cx="45720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509760" y="4754880"/>
            <a:ext cx="54864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4754880" y="2788920"/>
            <a:ext cx="5852160" cy="146304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132320" y="3447288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0" i="1">
                <a:solidFill>
                  <a:srgbClr val="555555"/>
                </a:solidFill>
                <a:latin typeface="Calibri"/>
              </a:rPr>
              <a:t>analysis.json.gz checkpoint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5943600"/>
            <a:ext cx="114300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400" b="1" i="0">
                <a:solidFill>
                  <a:srgbClr val="000000"/>
                </a:solidFill>
                <a:latin typeface="Calibri"/>
              </a:rPr>
              <a:t>Progress marker saved after each stage:  registered → extracted → analyzed → stored → graphed → done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Stage 1 – Register (the front desk)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Input: a PDF file   •   Output: a document record + a queued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6766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700">
                <a:solidFill>
                  <a:srgbClr val="000000"/>
                </a:solidFill>
                <a:latin typeface="Calibri"/>
              </a:rPr>
              <a:t>• Check:</a:t>
            </a:r>
            <a:r>
              <a:rPr sz="1700">
                <a:solidFill>
                  <a:srgbClr val="000000"/>
                </a:solidFill>
                <a:latin typeface="Calibri"/>
              </a:rPr>
              <a:t> file starts with %PDF, is not password-protected, opens correctly, is under 200 MB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000000"/>
                </a:solidFill>
                <a:latin typeface="Calibri"/>
              </a:rPr>
              <a:t>• Fingerprint:</a:t>
            </a:r>
            <a:r>
              <a:rPr sz="1700">
                <a:solidFill>
                  <a:srgbClr val="000000"/>
                </a:solidFill>
                <a:latin typeface="Calibri"/>
              </a:rPr>
              <a:t> SHA-256 of the file contents; same fingerprint = duplicate, stop here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000000"/>
                </a:solidFill>
                <a:latin typeface="Calibri"/>
              </a:rPr>
              <a:t>• Identify:</a:t>
            </a:r>
            <a:r>
              <a:rPr sz="1700">
                <a:solidFill>
                  <a:srgbClr val="000000"/>
                </a:solidFill>
                <a:latin typeface="Calibri"/>
              </a:rPr>
              <a:t> document id = “d” + first 12 characters of the fingerprint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000000"/>
                </a:solidFill>
                <a:latin typeface="Calibri"/>
              </a:rPr>
              <a:t>• Store:</a:t>
            </a:r>
            <a:r>
              <a:rPr sz="1700">
                <a:solidFill>
                  <a:srgbClr val="000000"/>
                </a:solidFill>
                <a:latin typeface="Calibri"/>
              </a:rPr>
              <a:t> copy saved to data/pdfs/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000000"/>
                </a:solidFill>
                <a:latin typeface="Calibri"/>
              </a:rPr>
              <a:t>• Queue:</a:t>
            </a:r>
            <a:r>
              <a:rPr sz="1700">
                <a:solidFill>
                  <a:srgbClr val="000000"/>
                </a:solidFill>
                <a:latin typeface="Calibri"/>
              </a:rPr>
              <a:t> new rows in the documents and jobs tables (status: queued)</a:t>
            </a:r>
          </a:p>
          <a:p>
            <a:pPr>
              <a:spcAft>
                <a:spcPts val="1200"/>
              </a:spcAft>
            </a:pPr>
            <a:r>
              <a:rPr b="1" sz="1700">
                <a:solidFill>
                  <a:srgbClr val="000000"/>
                </a:solidFill>
                <a:latin typeface="Calibri"/>
              </a:rPr>
              <a:t>• Audit:</a:t>
            </a:r>
            <a:r>
              <a:rPr sz="1700">
                <a:solidFill>
                  <a:srgbClr val="000000"/>
                </a:solidFill>
                <a:latin typeface="Calibri"/>
              </a:rPr>
              <a:t> “document.registered” entry written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1554480"/>
            <a:ext cx="3657600" cy="548640"/>
          </a:xfrm>
          <a:prstGeom prst="roundRect">
            <a:avLst>
              <a:gd name="adj" fmla="val 12000"/>
            </a:avLst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Rejected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148840"/>
            <a:ext cx="3657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not a PDF • encrypted • corrupt • too big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79" y="2834640"/>
            <a:ext cx="3657600" cy="548640"/>
          </a:xfrm>
          <a:prstGeom prst="roundRect">
            <a:avLst>
              <a:gd name="adj" fmla="val 12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Duplicate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3429000"/>
            <a:ext cx="3657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same content already loaded (even if renamed)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4114800"/>
            <a:ext cx="3657600" cy="54864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Queued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4709160"/>
            <a:ext cx="36576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300" b="0" i="0">
                <a:solidFill>
                  <a:srgbClr val="555555"/>
                </a:solidFill>
                <a:latin typeface="Calibri"/>
              </a:rPr>
              <a:t>accepted and waiting for a worker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Stage 2 – Extract (reading the pages)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Tools: PyMuPDF for text and tables, RapidOCR for scanned pages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45920"/>
            <a:ext cx="3017520" cy="82296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Page with text layer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read directly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17520"/>
            <a:ext cx="3017520" cy="822960"/>
          </a:xfrm>
          <a:prstGeom prst="roundRect">
            <a:avLst>
              <a:gd name="adj" fmla="val 12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Page without text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&lt; 40 characters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45920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PyMuPDF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lines + fonts + boxes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3017520"/>
            <a:ext cx="2194560" cy="82296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RapidOCR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local, offline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60" y="228600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Page record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text, position, method, confidence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566160" y="2057400"/>
            <a:ext cx="73152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566160" y="3429000"/>
            <a:ext cx="73152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92240" y="2057400"/>
            <a:ext cx="731520" cy="54864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492240" y="2926080"/>
            <a:ext cx="731520" cy="50292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875520" y="228600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extraction.json.gz</a:t>
            </a:r>
          </a:p>
          <a:p>
            <a:pPr algn="ctr"/>
            <a:r>
              <a:rPr sz="1100">
                <a:solidFill>
                  <a:srgbClr val="FFFFFF"/>
                </a:solidFill>
                <a:latin typeface="Calibri"/>
              </a:rPr>
              <a:t>checkpoint 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18320" y="2743200"/>
            <a:ext cx="45720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420624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  <a:latin typeface="Calibri"/>
              </a:rPr>
              <a:t>• Every line keeps its coordinates:</a:t>
            </a:r>
            <a:r>
              <a:rPr sz="1600">
                <a:solidFill>
                  <a:srgbClr val="000000"/>
                </a:solidFill>
                <a:latin typeface="Calibri"/>
              </a:rPr>
              <a:t> needed later to highlight a passage on the PDF page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  <a:latin typeface="Calibri"/>
              </a:rPr>
              <a:t>• Tables:</a:t>
            </a:r>
            <a:r>
              <a:rPr sz="1600">
                <a:solidFill>
                  <a:srgbClr val="000000"/>
                </a:solidFill>
                <a:latin typeface="Calibri"/>
              </a:rPr>
              <a:t> found by ruling lines or a “Table” caption, kept as rows and columns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  <a:latin typeface="Calibri"/>
              </a:rPr>
              <a:t>• Quality:</a:t>
            </a:r>
            <a:r>
              <a:rPr sz="1600">
                <a:solidFill>
                  <a:srgbClr val="000000"/>
                </a:solidFill>
                <a:latin typeface="Calibri"/>
              </a:rPr>
              <a:t> each page gets a method (pymupdf / ocr) and a confidence; problems become warnings</a:t>
            </a:r>
          </a:p>
          <a:p>
            <a:pPr>
              <a:spcAft>
                <a:spcPts val="800"/>
              </a:spcAft>
            </a:pPr>
            <a:r>
              <a:rPr b="1" sz="1600">
                <a:solidFill>
                  <a:srgbClr val="000000"/>
                </a:solidFill>
                <a:latin typeface="Calibri"/>
              </a:rPr>
              <a:t>• Docling was evaluated and not used:</a:t>
            </a:r>
            <a:r>
              <a:rPr sz="1600">
                <a:solidFill>
                  <a:srgbClr val="000000"/>
                </a:solidFill>
                <a:latin typeface="Calibri"/>
              </a:rPr>
              <a:t> needs PyTorch and large models – too heavy for 200 local PDFs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Stage 3 – Structure (finding the headings)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Output: a tree of sections, each labelled with a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760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000000"/>
                </a:solidFill>
                <a:latin typeface="Calibri"/>
              </a:rPr>
              <a:t>• 1st choice:</a:t>
            </a:r>
            <a:r>
              <a:rPr sz="1600">
                <a:solidFill>
                  <a:srgbClr val="000000"/>
                </a:solidFill>
                <a:latin typeface="Calibri"/>
              </a:rPr>
              <a:t> the PDF's built-in bookmarks (outline)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000000"/>
                </a:solidFill>
                <a:latin typeface="Calibri"/>
              </a:rPr>
              <a:t>• Otherwise:</a:t>
            </a:r>
            <a:r>
              <a:rPr sz="1600">
                <a:solidFill>
                  <a:srgbClr val="000000"/>
                </a:solidFill>
                <a:latin typeface="Calibri"/>
              </a:rPr>
              <a:t> numbered headings (“5.1 Inclusion Criteria”), bold / larger short lines, ALL-CAPS lines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000000"/>
                </a:solidFill>
                <a:latin typeface="Calibri"/>
              </a:rPr>
              <a:t>• Ignore:</a:t>
            </a:r>
            <a:r>
              <a:rPr sz="1600">
                <a:solidFill>
                  <a:srgbClr val="000000"/>
                </a:solidFill>
                <a:latin typeface="Calibri"/>
              </a:rPr>
              <a:t> printed table-of-contents pages (dot leaders)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000000"/>
                </a:solidFill>
                <a:latin typeface="Calibri"/>
              </a:rPr>
              <a:t>• Classify:</a:t>
            </a:r>
            <a:r>
              <a:rPr sz="1600">
                <a:solidFill>
                  <a:srgbClr val="000000"/>
                </a:solidFill>
                <a:latin typeface="Calibri"/>
              </a:rPr>
              <a:t> ordered keyword rules; first match wins; unclear titles stay “unknown”; children inherit the parent's category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583680" y="1463040"/>
          <a:ext cx="52120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0116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Heading found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Category assigned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1 PROTOCOL SYNOPSIS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synopsis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2.2 Primary Endpoint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primary_endpoints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4.1 Arm A: Pembrolizumab + Nab-paclitaxel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treatment_arms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4.3 Dose Modifications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dosing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5.1 Inclusion Criteria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inclusion_criteria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5.2 Exclusion Criteria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exclusion_criteria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6 SCHEDULE OF ASSESSMENTS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schedule_of_assessments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8 STATISTICAL ANALYSIS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statistics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583680" y="5760720"/>
            <a:ext cx="521208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300" b="0" i="1">
                <a:solidFill>
                  <a:srgbClr val="555555"/>
                </a:solidFill>
                <a:latin typeface="Calibri"/>
              </a:rPr>
              <a:t>Real result for the demo sample: 21 sections found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Stage 4 – Chunk (evidence passages)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Hierarchy: Document → Section → Paragraph / List item / Table → Evidence chunk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Never crosses a section boundary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Eligibility, dosing, arms and endpoint items stay whole – a criterion is never cut in half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Tables: one table chunk + one chunk per row, each row with its column headings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Long paragraphs split only at sentence ends (about 1,100 characters target, 2,200 maximum)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Short neighbouring paragraphs are merged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Each chunk remembers pages and bounding boxes (for highlighting)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463040"/>
            <a:ext cx="4297680" cy="54864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Section 4.1  Arm 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377440"/>
            <a:ext cx="4297680" cy="54864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Evidence chunk  chk_c02a7c6aca0ab00d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464040" y="2011680"/>
            <a:ext cx="0" cy="36576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315200" y="3200400"/>
            <a:ext cx="4297680" cy="13716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300">
                <a:solidFill>
                  <a:srgbClr val="000000"/>
                </a:solidFill>
                <a:latin typeface="Calibri"/>
              </a:rPr>
              <a:t>“Patients in Arm A will receive pembrolizumab 200 mg administered intravenously on Day 1 of each 21-day cycle, in combination with nab-paclitaxel 100 mg/m2 …”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4754880"/>
            <a:ext cx="429768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  <a:latin typeface="Calibri"/>
              </a:rPr>
              <a:t>page 2  •  method pymupdf  •  confidence 1.0  •  box (62.7, 626.9) – (532.3, 668.7)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Stage 5 – Extract facts (entities and claims)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Dictionary and rules first. Every claim carries its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716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Title page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1488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NCT number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Sponsor, phase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Version, date, amendment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Protocol or SAP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3716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Entities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21488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Curated breast-oncology lexicon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Longest match wins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Learns document abbreviations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Unknown drug-like words = candidates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3716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Claims (facts)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08776" y="21488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Meaning of the section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Sentence patterns (“in combination with”, “versus”)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Quote + page + confidence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Co-occurrence alone = no fact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07424" y="1371600"/>
            <a:ext cx="2743200" cy="640080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Optional AI helper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214884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Proposes extra claims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Must use an allowed predicate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Entities must resolve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Quote must appear verbatim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4572000"/>
            <a:ext cx="11338560" cy="8229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>
                <a:solidFill>
                  <a:srgbClr val="000000"/>
                </a:solidFill>
                <a:latin typeface="Calibri"/>
              </a:rPr>
              <a:t>Example: a drug in the dosing / arms / synopsis section → INVESTIGATES.  The same drug in an exclusion criterion → REFERENCES_DRUG (a prior-therapy rule), not a treatment.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577840"/>
            <a:ext cx="113385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1">
                <a:solidFill>
                  <a:srgbClr val="555555"/>
                </a:solidFill>
                <a:latin typeface="Calibri"/>
              </a:rPr>
              <a:t>Result saved as analysis.json.gz (checkpoint 2) together with quality warnings.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Stages 6–7 – Store, resolve and write the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Safe, repeatable, no duplicates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2194560" cy="64008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6  SQLite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Old rows of the document deleted, new ones written in one transaction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Sections, chunks (+ full-text index), tables, mentions, warnings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Document details updated (NCT, phase, sponsor, version)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2926080" cy="64008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7  Resolve +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5577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Resolve names: lexicon → document abbreviation → human decision → provisional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≥84% look-alike? → review queue, never auto-merged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Validate each claim against the schema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Write Neo4j: remove old contribution, merge shared entities, create document nodes, one relationship per claim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Link versions by NCT number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5120640"/>
            <a:ext cx="11338560" cy="7315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>
                <a:solidFill>
                  <a:srgbClr val="000000"/>
                </a:solidFill>
                <a:latin typeface="Calibri"/>
              </a:rPr>
              <a:t>Relationship properties:  claim_id  •  source_document_id  •  source_chunk_id  •  pages  •  supporting_quote  •  confidence  •  validation_status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Reliability – job control and failures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Nothing is lost if something goes wrong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247120" cy="4828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321040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Situation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the system does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Normal run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queued → running → done  (document: queued → processing → processed)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Server stopped mid-way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On restart, running jobs return to the queue and resume after the last finished stage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Unexpected error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Up to 3 attempts; then status failed with the error text; the Retry button restarts from the checkpoint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Bad input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Fails immediately, shows the reason (no pointless retries)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Pause / resume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Queue can be paused; running jobs finish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Delete document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Removes graph contribution, search rows, stored PDF and checkpoints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Human review decision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Stored; affected documents are re-graphed from checkpoint 2 (no PDF re-reading)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Worked example – a real document through the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Sample_Protocol_SAMPLE-PEMBRO-001.pdf (synthetic demo file, 4 pages) – processed in about 10 seconds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6949440" cy="3950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5212080"/>
              </a:tblGrid>
              <a:tr h="49377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Real result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1 Register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id d68610bec6b23 • 4 pages • queued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2 Extract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text PDF • pymupdf • confidence 1.0 • no OCR needed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3 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21 sections (synopsis, endpoints, arms, inclusion, exclusion …)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4 Chunk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30 evidence chunks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5 Extract facts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NCT99999999 • Phase 2 • 79 entities • 110 mentions • 89 claims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6 Store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sections + chunks saved and searchable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7 Graph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73 entities • 89 relationships • 0 rejected • 0 warnings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772400" y="1371600"/>
          <a:ext cx="4023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229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Claim type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n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MONITORS_ADVERSE_EVENT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ASSOCIATED_WITH_BIOMARKER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REQUIRES_ASSESSMENT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REFERENCES_CONDITION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HAS_INCLUSION_CRITERION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HAS_EXCLUSION_CRITERION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HAS_SECONDARY_ENDPOINT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Calibri"/>
                        </a:rPr>
                        <a:t>others (18 types)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33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457200" y="5577840"/>
            <a:ext cx="6949440" cy="6400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>
                <a:solidFill>
                  <a:srgbClr val="000000"/>
                </a:solidFill>
                <a:latin typeface="Calibri"/>
              </a:rPr>
              <a:t>Same pipeline for a 150-page protocol: roughly 20–60 seconds.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Worked example – one fact, from text to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Every fact keeps its proof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11247120" cy="8229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>
                <a:solidFill>
                  <a:srgbClr val="000000"/>
                </a:solidFill>
                <a:latin typeface="Calibri"/>
              </a:rPr>
              <a:t>“Patients in Arm A will receive pembrolizumab 200 mg administered intravenously on Day 1 of each 21-day cycle, in combination with nab-paclitaxel 100 mg/m2 …”   (page 2, section 4.1)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" y="2194560"/>
            <a:ext cx="0" cy="41148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2651760"/>
            <a:ext cx="3657600" cy="73152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Claim  COMBINED_WITH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nab-paclitaxel → pembrolizumab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651760"/>
            <a:ext cx="3657600" cy="73152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Claim  HAS_DOSE_SPECIFICATION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pembrolizumab 200 mg, Day 1, IV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651760"/>
            <a:ext cx="3566160" cy="73152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Claim  HAS_DOSE_SPECIFICATION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nab-paclitaxel 100 mg/m2, Days 1, 8, 15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370332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8696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Property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Value (from the real output)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claim id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clm_4511b3a59da5b9fb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method / type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rule:connector  •  explicit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confidence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0.9   (dose claims 0.88)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page 2 quotes (2 supporting passages)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schema-checked → written to Neo4j as a relationship with claim_id, document, chunk, pages, quote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In the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The same protocol as a plain-language overview, and the original PDF page for any fact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03_stud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5486400" cy="342900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57200" y="480060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Protocol overview built from the extracted facts (page links on every item)</a:t>
            </a:r>
          </a:p>
        </p:txBody>
      </p:sp>
      <p:pic>
        <p:nvPicPr>
          <p:cNvPr id="10" name="Picture 9" descr="04_source_vie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280160"/>
            <a:ext cx="5486400" cy="3086100"/>
          </a:xfrm>
          <a:prstGeom prst="rect">
            <a:avLst/>
          </a:prstGeom>
          <a:ln w="9525">
            <a:solidFill>
              <a:srgbClr val="00000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263640" y="4389120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Source viewer: the real PDF page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1663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Every fact and passage lists its page; "View on page" opens it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"View on page" jumps to the original PDF page with the passage highlighted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000000"/>
                </a:solidFill>
                <a:latin typeface="Calibri"/>
              </a:rPr>
              <a:t>• Claims in the graph point back to these same passages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Query pipeline – from question to verified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GraphRAG: retrieve real facts first, then summarise only those 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5544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 Parse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intent + types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23160" y="201168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88920" y="15544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 Link terms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to graph entities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09160" y="201168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74920" y="15544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 Plan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pick templates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95160" y="201168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360920" y="15544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 Run Cypher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read-only, timeout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281160" y="201168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46920" y="155448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 Collect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nodes, edges, paths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56616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10 Answer + audit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evidence-only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423160" y="402336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788920" y="356616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9 Validate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provenance check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4709160" y="402336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74920" y="356616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8 Answer tree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BFS / DFS paths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6995160" y="402336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60920" y="356616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7 Rank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confidence x evidence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9281160" y="4023360"/>
            <a:ext cx="36576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646920" y="356616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 Evidence</a:t>
            </a:r>
          </a:p>
          <a:p>
            <a:pPr algn="ctr"/>
            <a:r>
              <a:rPr sz="1300">
                <a:solidFill>
                  <a:srgbClr val="FFFFFF"/>
                </a:solidFill>
                <a:latin typeface="Calibri"/>
              </a:rPr>
              <a:t>claims + passages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646920" y="2468880"/>
            <a:ext cx="0" cy="109728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02920" y="5029200"/>
            <a:ext cx="11155680" cy="8229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600">
                <a:solidFill>
                  <a:srgbClr val="000000"/>
                </a:solidFill>
                <a:latin typeface="Calibri"/>
              </a:rPr>
              <a:t>Safety rule: the question text never becomes database code. It only selects and fills pre-written, read-only templates.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Query pipeline – what each step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1645920"/>
                <a:gridCol w="905256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happens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Parse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Regex cues find the intent: trials for a drug, combination, similar trials, dosing differences, paths …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Link terms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NCT ids → curated dictionary → graph full-text index; each match verified to exist in the graph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Plan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Intent + entity types choose allow-listed templates; unmappable = “unsupported” with explanation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Execute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Parameterised Cypher in a read-only transaction; timeout 15 s; limit 400 results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Collect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Chains of real stored nodes and relationships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Claims and supporting passages (page, quote) fetched for every clinical edge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Rank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confidence × amount of evidence, reduced for longer paths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Tree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BFS / DFS spanning tree, visit order with queue/stack state, root-to-answer paths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Validate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Edges exist; clinical edges have claim, document, quote, page; evidence from the same document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Deterministic evidence-only text with support labels; plan + evidence saved in History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Trust layer – validation and support labels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Final safety net before anything is shown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5669280" cy="484632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5875">
            <a:solidFill>
              <a:srgbClr val="4D4D4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07592"/>
            <a:ext cx="54864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4D4D4D"/>
                </a:solidFill>
                <a:latin typeface="Calibri"/>
              </a:rPr>
              <a:t>Layer 4 –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5303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Every returned edge still exists in Neo4j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Every clinical edge has claim id, source document, supporting quote and page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Claim evidence comes from the same document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Every path uses only returned edges and nodes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Result: verified • verified with warnings • no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80160"/>
            <a:ext cx="5486400" cy="4846320"/>
          </a:xfrm>
          <a:prstGeom prst="roundRect">
            <a:avLst>
              <a:gd name="adj" fmla="val 4000"/>
            </a:avLst>
          </a:prstGeom>
          <a:solidFill>
            <a:srgbClr val="FAFAFA"/>
          </a:solidFill>
          <a:ln w="15875">
            <a:solidFill>
              <a:srgbClr val="33333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07592"/>
            <a:ext cx="53035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 i="0">
                <a:solidFill>
                  <a:srgbClr val="333333"/>
                </a:solidFill>
                <a:latin typeface="Calibri"/>
              </a:rPr>
              <a:t>Layer 5 – Support labels on every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supported by multiple passages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supported by one passage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inferred from a validated path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background literature statement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reference terminology (not protocol evidence)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mentioned only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uncertain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4754880"/>
            <a:ext cx="5120640" cy="10972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400">
                <a:solidFill>
                  <a:srgbClr val="000000"/>
                </a:solidFill>
                <a:latin typeface="Calibri"/>
              </a:rPr>
              <a:t>Never adds medical knowledge, never turns a mention into a treatment claim, never implies causality.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Worked query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Question: “Find protocols that combine pembrolizumab with chemotherapy”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905256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Intent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combination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Linked entities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pembrolizumab (drug) • chemotherapy (intervention)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Retrieved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13 nodes • 22 relationships • 19 reasoning paths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verified – every clinical edge has claim, document, quote, page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5 protocols, e.g. 67 KEYNOTE-355 (NCT02819518), 183 Pembrolizumab + chemotherapy in metastatic TNBC, 142 Pembrolizumab + carboplatin vs carboplatin, 26, 107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Speed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about 0.5 s warm (first question after start-up about 10 s)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669280"/>
            <a:ext cx="11247120" cy="5486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>
                <a:solidFill>
                  <a:srgbClr val="000000"/>
                </a:solidFill>
                <a:latin typeface="Calibri"/>
              </a:rPr>
              <a:t>Click any result to open the original PDF page with the passage highlighted.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Local AI pipeline – explain, ask,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A local model (Ollama) writes plain-language answers using only numbered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71600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 Question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or a protocol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1783080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31720" y="1371600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 Retrieve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text + facts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69080" y="1783080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51960" y="1371600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 Number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sources S1..Sn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89320" y="1783080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172200" y="1371600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 Generate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expert prompt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909560" y="1783080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92440" y="1371600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4D4D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 Check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grounding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829800" y="1783080"/>
            <a:ext cx="18288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012680" y="1371600"/>
            <a:ext cx="1737360" cy="822960"/>
          </a:xfrm>
          <a:prstGeom prst="roundRect">
            <a:avLst>
              <a:gd name="adj" fmla="val 12000"/>
            </a:avLst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 Show</a:t>
            </a:r>
          </a:p>
          <a:p>
            <a:pPr algn="ctr"/>
            <a:r>
              <a:rPr sz="1200">
                <a:solidFill>
                  <a:srgbClr val="FFFFFF"/>
                </a:solidFill>
                <a:latin typeface="Calibri"/>
              </a:rPr>
              <a:t>answer + sources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560320"/>
            <a:ext cx="11155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500">
                <a:solidFill>
                  <a:srgbClr val="000000"/>
                </a:solidFill>
                <a:latin typeface="Calibri"/>
              </a:rPr>
              <a:t>• Retrieve:</a:t>
            </a:r>
            <a:r>
              <a:rPr sz="1500">
                <a:solidFill>
                  <a:srgbClr val="000000"/>
                </a:solidFill>
                <a:latin typeface="Calibri"/>
              </a:rPr>
              <a:t> full-text search with synonyms (e.g. palbociclib = Ibrance) and section-aware ranking; graph facts for corpus questions; the protocol's own facts for single-protocol questions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00000"/>
                </a:solidFill>
                <a:latin typeface="Calibri"/>
              </a:rPr>
              <a:t>• Generate:</a:t>
            </a:r>
            <a:r>
              <a:rPr sz="1500">
                <a:solidFill>
                  <a:srgbClr val="000000"/>
                </a:solidFill>
                <a:latin typeface="Calibri"/>
              </a:rPr>
              <a:t> clinical-trial protocol expert persona; plain language; explain terms; use only the sources; cite [S#]; no medical advice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00000"/>
                </a:solidFill>
                <a:latin typeface="Calibri"/>
              </a:rPr>
              <a:t>• Protocol explanation:</a:t>
            </a:r>
            <a:r>
              <a:rPr sz="1500">
                <a:solidFill>
                  <a:srgbClr val="000000"/>
                </a:solidFill>
                <a:latin typeface="Calibri"/>
              </a:rPr>
              <a:t> ten fixed sections (who can join, treatments, measures, safety, design, key terms ...); saved per protocol</a:t>
            </a:r>
          </a:p>
          <a:p>
            <a:pPr>
              <a:spcAft>
                <a:spcPts val="800"/>
              </a:spcAft>
            </a:pPr>
            <a:r>
              <a:rPr b="1" sz="1500">
                <a:solidFill>
                  <a:srgbClr val="000000"/>
                </a:solidFill>
                <a:latin typeface="Calibri"/>
              </a:rPr>
              <a:t>• Stream:</a:t>
            </a:r>
            <a:r>
              <a:rPr sz="1500">
                <a:solidFill>
                  <a:srgbClr val="000000"/>
                </a:solidFill>
                <a:latin typeface="Calibri"/>
              </a:rPr>
              <a:t> answers appear word by word in the browser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486400"/>
            <a:ext cx="11155680" cy="7315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400">
                <a:solidFill>
                  <a:srgbClr val="000000"/>
                </a:solidFill>
                <a:latin typeface="Calibri"/>
              </a:rPr>
              <a:t>qwen2.5:3b on a 4 GB GPU: full protocol explanation about 23 s; questions about 6-13 s. Larger models (qwen2.5:7b) cite more but are slower on small GPUs.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Research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The model plans tool calls, every step is shown, then it answers from everything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19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6400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38912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find_protocols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List protocols matching a drug, disease, trial name or sponsor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protocol_overview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Structured summary of one protocol (its facts)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search_text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Passages from the protocol text (optionally inside one protocol)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graph_search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Validated facts across all protocols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compare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2-4 protocols on 11 key fields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23760" y="1371600"/>
            <a:ext cx="4572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Plans one step at a time in JSON (max 4 tools)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Repeated steps are blocked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Unknown protocols are reported, never guessed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All tool results join one numbered source pool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000000"/>
                </a:solidFill>
                <a:latin typeface="Calibri"/>
              </a:rPr>
              <a:t>• Final answer cites the pool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120640"/>
            <a:ext cx="11247120" cy="9144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400">
                <a:solidFill>
                  <a:srgbClr val="000000"/>
                </a:solidFill>
                <a:latin typeface="Calibri"/>
              </a:rPr>
              <a:t>Example: "Compare KEYNOTE-355 and PALOMA-3: who can join and what treatments are given?" – agent calls compare, then answers with cited eligibility and treatment facts (about 13 s).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Explainability check on every AI answer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D9D9D9"/>
                </a:solidFill>
                <a:latin typeface="Calibri"/>
              </a:rPr>
              <a:t>So that a non-expert can trust – and verify – what the AI says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7160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6035040"/>
                <a:gridCol w="3017520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Shown as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Cited statements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Model's own [S#] tags (also on their own line for a paragraph)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Blue chip 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Matched statements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Uncited sentences matched to the best source by word overlap (30%+)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Dashed chip ~S3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Invalid citations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Tags pointing to sources that were not given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Warning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Number check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Doses, percentages and durations searched in the sources (trial IDs ignored)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"Not found in the sources: ..."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70%+ supported and no problems = well grounded; 40%+ = partly; else weakly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000000"/>
                          </a:solidFill>
                          <a:latin typeface="Calibri"/>
                        </a:rPr>
                        <a:t>Coloured box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457200" y="5120640"/>
            <a:ext cx="11247120" cy="7315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>
                <a:solidFill>
                  <a:srgbClr val="000000"/>
                </a:solidFill>
                <a:latin typeface="Calibri"/>
              </a:rPr>
              <a:t>Each source also says why it was chosen (matched words, relevant section, graph fact) and opens the original PDF page.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33272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Pipeline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  <a:latin typeface="Calibri"/>
              </a:rPr>
              <a:t>CTPIP  | 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5486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1000" b="0" i="0">
                <a:solidFill>
                  <a:srgbClr val="555555"/>
                </a:solidFill>
                <a:latin typeface="Calibri"/>
              </a:rPr>
              <a:t>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3716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206240"/>
                <a:gridCol w="2286000"/>
                <a:gridCol w="274320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Main tool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Runs in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Saved as</a:t>
                      </a:r>
                    </a:p>
                  </a:txBody>
                  <a:tcPr marL="54864" marR="54864" marT="27432" marB="27432" anchor="ctr">
                    <a:solidFill>
                      <a:srgbClr val="000000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1 Register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SHA-256, PyMuPDF 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API request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documents + jobs rows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2 Extract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PyMuPDF, RapidOCR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Worker process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extraction.json.gz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3 Structure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Layout + keyword rules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Worker process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analysis.json.gz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4 Chunk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Rule-based splitter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Worker process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analysis.json.gz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5 Extract facts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Lexicon, regex, optional LLM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Worker process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analysis.json.gz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6 Store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SQLite WAL + FTS5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Writer thread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SQLite tables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7 Graph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Resolver, schema validator, Neo4j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Writer thread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Neo4j graph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Query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Planner, templates, Cypher, validator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API request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queries + audit tables</a:t>
                      </a:r>
                    </a:p>
                  </a:txBody>
                  <a:tcPr marL="54864" marR="54864" marT="27432" marB="27432" anchor="ctr">
                    <a:solidFill>
                      <a:srgbClr val="F5F5F5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Calibri"/>
                        </a:rPr>
                        <a:t>Local AI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Retrieval, Ollama model, agent, grounding 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API request (streamed)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  <a:latin typeface="Calibri"/>
                        </a:rPr>
                        <a:t>audit log; cached explanations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5852160"/>
            <a:ext cx="11247120" cy="50292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sz="1500">
                <a:solidFill>
                  <a:srgbClr val="000000"/>
                </a:solidFill>
                <a:latin typeface="Calibri"/>
              </a:rPr>
              <a:t>Remember: every fact has a page and a quote. Nothing is invented. Every stage can be resumed.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