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CTPIP Module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E6E6E6"/>
                </a:solidFill>
                <a:latin typeface="Calibri"/>
              </a:rPr>
              <a:t>Clinical Trial Protocol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BFBFBF"/>
                </a:solidFill>
                <a:latin typeface="Calibri"/>
              </a:rPr>
              <a:t>How the system is built: modules, responsibilities and how they connect  •  Explained in simple terms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CTPIP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One sentence: it reads trial protocol PDFs and turns them into a searchable, evidence-linked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Reads:</a:t>
            </a:r>
            <a:r>
              <a:rPr sz="1700">
                <a:solidFill>
                  <a:srgbClr val="000000"/>
                </a:solidFill>
                <a:latin typeface="Calibri"/>
              </a:rPr>
              <a:t> 187 breast-cancer clinical trial protocol PDFs (19,413 pages)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Understands:</a:t>
            </a:r>
            <a:r>
              <a:rPr sz="1700">
                <a:solidFill>
                  <a:srgbClr val="000000"/>
                </a:solidFill>
                <a:latin typeface="Calibri"/>
              </a:rPr>
              <a:t> finds drugs, diseases, doses, eligibility rules, endpoints and links them as facts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Remembers:</a:t>
            </a:r>
            <a:r>
              <a:rPr sz="1700">
                <a:solidFill>
                  <a:srgbClr val="000000"/>
                </a:solidFill>
                <a:latin typeface="Calibri"/>
              </a:rPr>
              <a:t> stores facts in a graph database (Neo4j) and the passages in SQLite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Answers:</a:t>
            </a:r>
            <a:r>
              <a:rPr sz="1700">
                <a:solidFill>
                  <a:srgbClr val="000000"/>
                </a:solidFill>
                <a:latin typeface="Calibri"/>
              </a:rPr>
              <a:t> plain-English questions, graph exploration, side-by-side comparison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Proves:</a:t>
            </a:r>
            <a:r>
              <a:rPr sz="1700">
                <a:solidFill>
                  <a:srgbClr val="000000"/>
                </a:solidFill>
                <a:latin typeface="Calibri"/>
              </a:rPr>
              <a:t> every fact links to the exact PDF page and quote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Explains:</a:t>
            </a:r>
            <a:r>
              <a:rPr sz="1700">
                <a:solidFill>
                  <a:srgbClr val="000000"/>
                </a:solidFill>
                <a:latin typeface="Calibri"/>
              </a:rPr>
              <a:t> a local AI (Ollama) explains protocols in plain language and answers questions with sources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Runs locally:</a:t>
            </a:r>
            <a:r>
              <a:rPr sz="1700">
                <a:solidFill>
                  <a:srgbClr val="000000"/>
                </a:solidFill>
                <a:latin typeface="Calibri"/>
              </a:rPr>
              <a:t> no cloud; the AI is optional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4630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9572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protocols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4630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95,181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39572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evidence passages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017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29,047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95020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clinical 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017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175,589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95020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graph links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572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693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50468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shared entities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572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504688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failed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–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Three layers: what you see, the engine, and the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92608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BROWSER / USER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280160"/>
            <a:ext cx="457200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307592"/>
            <a:ext cx="4389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ENGINE (Python FastAPI backend)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280160"/>
            <a:ext cx="320040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30759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STORAGE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828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React Web App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9 pages, D3 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Web browser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Chrome /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Local AI (Ollama)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port 11434 – optional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737360"/>
            <a:ext cx="40233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REST API  (/api/*)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documents, graph, query, evidence, compare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83464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Ingestion Worker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thread + 4 processes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83464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Query Engine + AI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GraphRAG, RAG,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420624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Extraction + Resolution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dictionary +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20624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Graph Writer / Client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Cypher, read-only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548640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Serves built web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7373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Neo4j Graph DB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nodes + relationships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01752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SQLite (WAL + FTS5)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jobs, chunks,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2976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File storage  data/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PDFs, .json.gz checkpoints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017520" y="2103120"/>
            <a:ext cx="914400" cy="18288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79" y="1938528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HTTP/JSON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92040" y="2468880"/>
            <a:ext cx="0" cy="36576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5160" y="2468880"/>
            <a:ext cx="0" cy="36576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92040" y="3931920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95160" y="3931920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955279" y="2377440"/>
            <a:ext cx="914401" cy="23774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55279" y="3383280"/>
            <a:ext cx="914401" cy="914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52160" y="3383280"/>
            <a:ext cx="3017520" cy="128016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28800" y="3657600"/>
            <a:ext cx="2103120" cy="137160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31720" y="4087368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optional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Everything used to build CTPIP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2743200" cy="59436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  (Python 3.11+)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FastAPI + Uvicorn – web API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Pydantic / pydantic-settings – validation, config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python-multipart – file upload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httpx – optional AI calls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pytest – test 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325880"/>
            <a:ext cx="2743200" cy="59436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PDF &amp; language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0574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PyMuPDF – text, fonts, tables, page images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RapidOCR (ONNX) – scanned pages, offline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Curated lexicon + regex rules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Python stdlib: process pool, threads, gzip, hashlib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25880"/>
            <a:ext cx="2743200" cy="59436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20574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Neo4j 5 + Cypher – knowledge graph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neo4j Python driver 5.28+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SQLite (WAL, FTS5) – metadata + search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gzip JSON – checkpoints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325880"/>
            <a:ext cx="2743200" cy="59436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  (TypeScript)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20574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React 18.3 + React Router 6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TanStack Query 5 – data fetching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D3 7.9 – graph drawing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Tailwind CSS 3.4 + lucide icons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Vite 5 – dev server and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864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Launcher: start.bat starts Neo4j (needs Java 21), prepares the Python and Node environments, starts the backend on port 8000 and opens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Backend module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backend/app/ – eight packages, each with one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8483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doors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documents, graph, query, assistant,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08483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46888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metadb.py – SQLite tables + helpers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ingest/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08483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reader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46888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pipeline, worker, pdf_extract, structure, chunker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extraction/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08483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fact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46888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lexicon, entities, relations, providers + resolution/resolver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1655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explainer (local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06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client, retrieval, prompts, protocol_brief, glossary, agent, grounding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370332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graph/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441655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graph keeper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8006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schema, writer, neo4j_client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370332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query/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441655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The answerer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48006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planner, linker, templates, engine, traversal, answer, compare, serialize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424" y="370332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main.py + config.py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4416552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Start-up &amp;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48006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FastAPI app, .env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Module: ingest – reading PDFs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From a PDF file to structured, page-aware passages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pipeline.py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the recipe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worker.py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the foreman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pdf_extract.py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reader +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46888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structure.py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headings +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5661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chunker.py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evidence passages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1691640"/>
            <a:ext cx="6400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2788920"/>
            <a:ext cx="6400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1828800"/>
            <a:ext cx="640080" cy="201168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0" y="13258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300">
                <a:solidFill>
                  <a:srgbClr val="000000"/>
                </a:solidFill>
                <a:latin typeface="Calibri"/>
              </a:rPr>
              <a:t>• worker.py:</a:t>
            </a:r>
            <a:r>
              <a:rPr sz="1300">
                <a:solidFill>
                  <a:srgbClr val="000000"/>
                </a:solidFill>
                <a:latin typeface="Calibri"/>
              </a:rPr>
              <a:t> polls the durable job queue, runs analysis in up to 4 processes, persists results in one writer thread, retries up to 3 times, re-queues jobs after a crash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00000"/>
                </a:solidFill>
                <a:latin typeface="Calibri"/>
              </a:rPr>
              <a:t>• pipeline.py:</a:t>
            </a:r>
            <a:r>
              <a:rPr sz="1300">
                <a:solidFill>
                  <a:srgbClr val="000000"/>
                </a:solidFill>
                <a:latin typeface="Calibri"/>
              </a:rPr>
              <a:t> stage functions: register_pdf, analyze_document, store_analysis, apply_resolution, persist_document, delete_document_everywhere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00000"/>
                </a:solidFill>
                <a:latin typeface="Calibri"/>
              </a:rPr>
              <a:t>• pdf_extract.py:</a:t>
            </a:r>
            <a:r>
              <a:rPr sz="1300">
                <a:solidFill>
                  <a:srgbClr val="000000"/>
                </a:solidFill>
                <a:latin typeface="Calibri"/>
              </a:rPr>
              <a:t> PyMuPDF text with fonts and boxes; RapidOCR for pages with under 40 characters; table finder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00000"/>
                </a:solidFill>
                <a:latin typeface="Calibri"/>
              </a:rPr>
              <a:t>• structure.py:</a:t>
            </a:r>
            <a:r>
              <a:rPr sz="1300">
                <a:solidFill>
                  <a:srgbClr val="000000"/>
                </a:solidFill>
                <a:latin typeface="Calibri"/>
              </a:rPr>
              <a:t> PDF outline first, then layout heuristics; ordered keyword rules assign categories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00000"/>
                </a:solidFill>
                <a:latin typeface="Calibri"/>
              </a:rPr>
              <a:t>• chunker.py:</a:t>
            </a:r>
            <a:r>
              <a:rPr sz="1300">
                <a:solidFill>
                  <a:srgbClr val="000000"/>
                </a:solidFill>
                <a:latin typeface="Calibri"/>
              </a:rPr>
              <a:t> never crosses sections; keeps each criterion/dose/endpoint whole; table rows get headers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612648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Checkpoints: extraction.json.gz and analysis.json.gz – a retry skips finished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Modules: extraction + resolution – understanding the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Dictionary and rules first; AI is optional and always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73152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lexicon.py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The dictionary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Curated breast-oncology terms: drugs, brands, codes, abbreviations, biomarkers, endpoints, side effects; distinct molecules stay distinct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entities.py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Spotter + metadata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Longest-match term finding; learns abbreviations defined in each document; reads NCT, sponsor, phase, version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relations.py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Fact builder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Creates claims from section meaning + sentence patterns; each claim carries quote, page, confidence; no facts from co-occurrence alone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providers.py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Extractor switch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Rule-based (default) or OpenAI-compatible model; model output kept only if schema-valid and the quote appears verbatim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resolver.py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Name checker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Exact match → document abbreviation → stored human decision → provisional entity; ≥84% look-alikes go to human review, never auto-merged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6928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Example: “PR” means progesterone receptor only near ER/HER2 wording; otherwise it is likely “partial response”.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Module: graph – the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A rulebook (schema), a writer, and a safe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00000"/>
                </a:solidFill>
                <a:latin typeface="Calibri"/>
              </a:rPr>
              <a:t>• schema.py:</a:t>
            </a:r>
            <a:r>
              <a:rPr sz="1400">
                <a:solidFill>
                  <a:srgbClr val="000000"/>
                </a:solidFill>
                <a:latin typeface="Calibri"/>
              </a:rPr>
              <a:t> 40 node types and 42 relationship types; each relationship lists which types it may connect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0000"/>
                </a:solidFill>
                <a:latin typeface="Calibri"/>
              </a:rPr>
              <a:t>• writer.py:</a:t>
            </a:r>
            <a:r>
              <a:rPr sz="1400">
                <a:solidFill>
                  <a:srgbClr val="000000"/>
                </a:solidFill>
                <a:latin typeface="Calibri"/>
              </a:rPr>
              <a:t> idempotent per document – removes the old contribution, merges shared entities, creates document nodes and one relationship per claim with provenance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0000"/>
                </a:solidFill>
                <a:latin typeface="Calibri"/>
              </a:rPr>
              <a:t>• neo4j_client.py:</a:t>
            </a:r>
            <a:r>
              <a:rPr sz="1400">
                <a:solidFill>
                  <a:srgbClr val="000000"/>
                </a:solidFill>
                <a:latin typeface="Calibri"/>
              </a:rPr>
              <a:t> admin account for writing only; every question uses a read-only transaction with a timeout, optionally a reader-only account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7200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297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clinical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Protocol facts – must have claim, page, quote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Documents, versions, evidence links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terminology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Reference drug classes (not evidence)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mention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Mentioned only – no clinical meaning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292608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37160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Drug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321040" y="1691640"/>
            <a:ext cx="1737360" cy="160020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169164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INVESTIGATES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377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Disease / Subtype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321040" y="2697480"/>
            <a:ext cx="1737360" cy="59436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49640" y="269748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STUDIES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38328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0" y="3291840"/>
            <a:ext cx="1737360" cy="41148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49640" y="37033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HAS_PRIMARY_ENDPOINT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43891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3291840"/>
            <a:ext cx="1737360" cy="1417319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49640" y="4709159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HAS_INCLUSION_CRITERION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84632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52360" y="3657600"/>
            <a:ext cx="0" cy="118872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43800" y="41148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DESCRIBED_IN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52120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>
                <a:solidFill>
                  <a:srgbClr val="000000"/>
                </a:solidFill>
                <a:latin typeface="Calibri"/>
              </a:rPr>
              <a:t>Every clinical link also points to an Evidence Chunk (page + quote) through its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Module: query – answering questions (GraphRAG)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Retrieve real facts first, then summarise only those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planner.py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Detect intent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82880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linker.py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Find entities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182880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templates.py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Safe Cypher only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182880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engine.py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Run + rank + validate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82880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traversal.py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BFS / DFS tree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182880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14630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answer.py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Evidence-only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11155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Question text never becomes database code:</a:t>
            </a:r>
            <a:r>
              <a:rPr sz="1500">
                <a:solidFill>
                  <a:srgbClr val="000000"/>
                </a:solidFill>
                <a:latin typeface="Calibri"/>
              </a:rPr>
              <a:t> it only fills parameters of pre-written, read-only templates (the allowlist)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Unsupported questions:</a:t>
            </a:r>
            <a:r>
              <a:rPr sz="1500">
                <a:solidFill>
                  <a:srgbClr val="000000"/>
                </a:solidFill>
                <a:latin typeface="Calibri"/>
              </a:rPr>
              <a:t> return “unsupported” with an explanation – no guessing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Validation layer:</a:t>
            </a:r>
            <a:r>
              <a:rPr sz="1500">
                <a:solidFill>
                  <a:srgbClr val="000000"/>
                </a:solidFill>
                <a:latin typeface="Calibri"/>
              </a:rPr>
              <a:t> every edge must exist; every clinical edge must have claim, document, quote and page; paths must use only returned edges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Answer labels:</a:t>
            </a:r>
            <a:r>
              <a:rPr sz="1500">
                <a:solidFill>
                  <a:srgbClr val="000000"/>
                </a:solidFill>
                <a:latin typeface="Calibri"/>
              </a:rPr>
              <a:t> supported by multiple / one passage · inferred · background · reference terminology · mention only · uncertain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compare.py:</a:t>
            </a:r>
            <a:r>
              <a:rPr sz="1500">
                <a:solidFill>
                  <a:srgbClr val="000000"/>
                </a:solidFill>
                <a:latin typeface="Calibri"/>
              </a:rPr>
              <a:t> 2–4 protocols field by field → same / similar / different / conflicting / unavailable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serialize.py:</a:t>
            </a:r>
            <a:r>
              <a:rPr sz="1500">
                <a:solidFill>
                  <a:srgbClr val="000000"/>
                </a:solidFill>
                <a:latin typeface="Calibri"/>
              </a:rPr>
              <a:t> packs graph objects into safe JSON for the screens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Module: llm – the local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Plain-language explanations, protocol study, Ask AI and an agent – always with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Question / protocol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737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Retrieve sources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1737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Number S1..Sn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1737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Local model (Ollama)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737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Grounding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1737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13716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 + sources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377440"/>
          <a:ext cx="1124712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retrieval.py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Full-text search with synonym expansion and section-aware ranking + validated graph facts; records why each source was chosen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protocol_brief.py + glossary.py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Plain-language structure of a protocol, medical terms and drug classes explained (works without AI)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prompts.py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Clinical-trial protocol expert persona; use only numbered sources; cite [S#]; no medical advice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agent.py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Research agent: plans up to 4 tool calls (find protocols, overview, text search, graph search, compare)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grounding.py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Explainability: cited vs automatically matched statements, invalid citations, numbers not found in 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client.py + settings.py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Ollama native API or any OpenAI-compatible server; settings page overrides .env; streaming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580644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Measured on a 4 GB GPU with qwen2.5:3b: full protocol explanation about 23 s, questions about 6-13 s; 80-90% of statements supported by 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API layer – the doors the screens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About 35 REST endpoints in four route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68580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Main endpoints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api/documents.py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upload, import-folder, list, detail, sections, chunks, tables, entities, file, page image, retry, reprocess, delete, jobs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api/graph.py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schema, stats, overview, traverse, neighborhood, paths, entity search / detail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Query &amp;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api/query.py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query, query/structured, templates, evidence search / chunk / edge, 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Quality &amp; history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api/query.py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quality summary / warnings / review / conflicts, history queries + audit, dashboard stats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api/evaluation.py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run, runs, run detail (helper module runner.py not yet present)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Local AI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api/assistant.py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status, settings, test, pull model, protocol brief, explain protocol, chat (RAG / agent), explain query / evidence / compare (streamed)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/api/health, optional X-API-Token guard, static web app, /docs, first-start auto-import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Security: optional API token; CORS limited to the dev server; unhandled errors return clean 500/503 messages; graph outage never takes the document library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React single-page app, served by the backend on the same 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84048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pages/  (one per screen)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Dashboard (+ Quality panel)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67128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Documents – Protocols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42616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DocumentDetail – Study (5 tabs)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18104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Assistant – Ask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2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Search (QueryWorkspace + EvidenceExplorer)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4568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GraphExplorer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0056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95544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Settings – local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280160"/>
            <a:ext cx="384048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2626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3075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Calibri"/>
              </a:rPr>
              <a:t>components/  (reusable)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6916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AiAnswer (citations, sources, check)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167128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ChatPanel (quick answer / agent)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642616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Md (answer formatting, citation chips)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118104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GraphCanvas (D3)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593592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DetailPanel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06908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EvidenceCard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544568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SourceViewer (PDF page + highlight)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5020056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TraversalPlayer (BFS/DFS replay)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5495544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TreeView + Legend + ui.tsx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280160"/>
            <a:ext cx="3200400" cy="493776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30759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lib/ + app shell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17373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api.ts – typed API client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56032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graphStyle.ts – colours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38328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traverse.ts – BFS / DFS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420624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App.tsx – menu + routes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0292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main.tsx – starts the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76072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+ ai.ts – streaming AI client, status, AI switches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Application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Simple navigation: Dashboard, Protocols, Ask AI, Search, Compare, Knowledge Graph, History,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4480560" cy="280035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373075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Dashboard</a:t>
            </a:r>
          </a:p>
        </p:txBody>
      </p:sp>
      <p:pic>
        <p:nvPicPr>
          <p:cNvPr id="10" name="Picture 9" descr="03_stud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4480560" cy="280035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0" y="373075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Study a protocol (plain language)</a:t>
            </a:r>
          </a:p>
        </p:txBody>
      </p:sp>
      <p:pic>
        <p:nvPicPr>
          <p:cNvPr id="12" name="Picture 11" descr="06_ask_ai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4480560" cy="280035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22960" y="647395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Ask AI (research agent)</a:t>
            </a:r>
          </a:p>
        </p:txBody>
      </p:sp>
      <p:pic>
        <p:nvPicPr>
          <p:cNvPr id="14" name="Picture 13" descr="09_compare_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931920"/>
            <a:ext cx="4480560" cy="280035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400800" y="647395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Compare with AI explanation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stores – what lives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Each store does what it is best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120640"/>
                <a:gridCol w="32004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this store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Neo4j (database ctpip)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Entities, claims, relationships with provenance, evidence nodes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Graph traversal and path finding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SQLite  data/ctpip.sqlite3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Documents, jobs, sections, chunks (+ full-text index), tables, mentions, warnings, review items, audit, query history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Local, transactional, FTS5 keyword search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data/pdfs/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Copy of each uploaded 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Page images with highlighted passages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data/artifacts/&lt;doc&gt;/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extraction.json.gz and analysis.json.gz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Resume / re-graph without re-reading the PDF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data/logs/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server.log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Troubleshooting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SQLite: app_settings, ai_explanations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Local AI settings; saved protocol explanations per model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Instant reopening; settings survive restarts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Original PDF folders are the source of truth: if data/ or the graph is lost, “Import dataset folder” rebuilds everything.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Runtime view – processes and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What is actually running when CTPIP is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start.bat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630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Neo4j (Java)
port 7687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uvicorn: FastAPI
port 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46304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31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Ollama (optional)
port 11434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1874519"/>
            <a:ext cx="6400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1874519"/>
            <a:ext cx="6400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57800" y="1618487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graph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686800" y="1874519"/>
            <a:ext cx="8229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49640" y="1618487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33172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starts Neo4j, then the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155680" cy="347472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706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Inside the backend process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Request threads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API calls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9184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Ingest dispatcher thread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polls jobs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918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Process pool (4)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analyse PDFs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918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Writer (same thread)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SQLite + Neo4j writes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3749039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78240" y="3749039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45720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Start-up: create SQLite schema → create Neo4j constraints/indexes → warm dictionary matcher → start worker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If Neo4j is down the API still serves the library and history; graph endpoints return 503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Shutdown: worker stopped, Neo4j driver closed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Design principles 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Why the results can be trusted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Evidence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Every clinical edge: claim id, document, chunk, page, verbatim quote,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Deterministic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Rules + dictionary; same input gives same output; works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AI answers from sources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Local AI uses numbered sources, cites them, and every answer is checked (citations, numbers).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No raw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Allow-listed read-only templates, timeouts, result limits, reader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9476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Never silently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57200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Look-alike drug names go to human review; terminology edges are labelled.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9476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Restartable and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572000"/>
            <a:ext cx="36118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Checkpoints, retries, idempotent writes, full delete of a document.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Remember these five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Reader (ingest) → Fact finder (extraction + resolution) → Graph keeper (graph) → Answerer (query)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Three stores: Neo4j (graph), SQLite (text + history), files (PDFs + checkpoints)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A background worker keeps the website responsive while PDFs are processed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Every fact is traceable to a PDF page and quote; questions can never run free-form database code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A local AI explains protocols in plain language for non-experts – always with sources and an explainability check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Everything is documented in docs/: user manual, how to run, dataset info, pipeline explanation, slides, demo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